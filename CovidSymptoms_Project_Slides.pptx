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resolution_medical_tech_themed_abst.png">    </p:cNvPr>
          <p:cNvPicPr>
            <a:picLocks noChangeAspect="1"/>
          </p:cNvPicPr>
          <p:nvPr/>
        </p:nvPicPr>
        <p:blipFill>
          <a:blip r:embed="rId1"/>
          <a:srcRect l="0" r="-5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9601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COVID Symptoms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Analysis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48640" y="25146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3F5A"/>
                </a:solidFill>
              </a:rPr>
              <a:t>Using a DEMI knowledgebase to estimate PCR-positive probability from symptoms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374904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3831336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HI 823 • Professor Abdul • Spring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4315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Paridhi Pradhan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problem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F5A"/>
                </a:solidFill>
              </a:rPr>
              <a:t>COVID symptoms overlap with flu and other respiratory illnesses, so symptom-only decisions need probability and context.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484632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14213D"/>
                </a:solidFill>
              </a:rPr>
              <a:t>Patients may report fever, cough, dyspnea, fatigue, headache, nausea, diarrhea, or loss of taste/smell.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</a:rPr>
              <a:t>Testing access and delays make triage support useful.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</a:rPr>
              <a:t>A transparent model is easier to explain than a black-box classifier.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114300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EAF6FB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13075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10.4%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93992" y="170992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observed PCR-positive baseline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114300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DDF2ED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0" y="13075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2–14 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079992" y="170992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typical symptom window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0" y="278892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EEF3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29535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PCR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936992" y="335584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target outcome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5349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Project goal: estimate P(COVID PCR+) as evidence accumulates.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4"/>
                </a:solidFill>
              </a:rPr>
              <a:t>2  |  COVID Symptoms Causal Analysis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knowledgebase</a:t>
            </a:r>
            <a:endParaRPr lang="en-US" sz="2600" dirty="0"/>
          </a:p>
        </p:txBody>
      </p:sp>
      <p:pic>
        <p:nvPicPr>
          <p:cNvPr id="3" name="Image 0" descr="/mnt/data/covid_project_outputs/pcr_outcome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2257"/>
            <a:ext cx="4663440" cy="321616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05156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EAF6FB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97880" y="12161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822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25312" y="161848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participants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98080" y="1051560"/>
            <a:ext cx="1600200" cy="1051560"/>
          </a:xfrm>
          <a:prstGeom prst="roundRect">
            <a:avLst>
              <a:gd name="adj" fmla="val 10435"/>
            </a:avLst>
          </a:prstGeom>
          <a:solidFill>
            <a:srgbClr val="DDF2ED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12161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472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62672" y="161848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raw variables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235440" y="105156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EEF3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72600" y="12161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70,983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400032" y="161848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DEMI evidence rows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2971800"/>
            <a:ext cx="1143000" cy="640080"/>
          </a:xfrm>
          <a:prstGeom prst="chevron">
            <a:avLst/>
          </a:prstGeom>
          <a:solidFill>
            <a:srgbClr val="2477A8"/>
          </a:solidFill>
          <a:ln w="12700">
            <a:solidFill>
              <a:srgbClr val="2477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068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Cleaned COVIDCARE data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43800" y="2971800"/>
            <a:ext cx="1143000" cy="64008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609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DEMI knowledgebase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418320" y="2971800"/>
            <a:ext cx="1143000" cy="640080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7260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Probability output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461772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PCR outcome available for 559 participants: 58 positive and 501 negative.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4"/>
                </a:solidFill>
              </a:rPr>
              <a:t>3  |  COVID Symptoms Causal Analysis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DEMI workflow used in the notebook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77A8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04088" y="20574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Temporal order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Retain “code before target” counts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975104"/>
            <a:ext cx="384048" cy="347472"/>
          </a:xfrm>
          <a:prstGeom prst="rightArrow">
            <a:avLst/>
          </a:prstGeom>
          <a:solidFill>
            <a:srgbClr val="2477A8">
              <a:alpha val="85000"/>
            </a:srgbClr>
          </a:solidFill>
          <a:ln w="12700">
            <a:solidFill>
              <a:srgbClr val="2477A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32588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77A8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30168" y="20574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Total effect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0168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Compare P(PCR+ | symptom) vs P(PCR+ | no symptom)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975104"/>
            <a:ext cx="384048" cy="347472"/>
          </a:xfrm>
          <a:prstGeom prst="rightArrow">
            <a:avLst/>
          </a:prstGeom>
          <a:solidFill>
            <a:srgbClr val="2477A8">
              <a:alpha val="85000"/>
            </a:srgbClr>
          </a:solidFill>
          <a:ln w="12700">
            <a:solidFill>
              <a:srgbClr val="2477A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32588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77A8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56248" y="20574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Direct evidence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56248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Use likelihood ratios and risk differences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1975104"/>
            <a:ext cx="384048" cy="347472"/>
          </a:xfrm>
          <a:prstGeom prst="rightArrow">
            <a:avLst/>
          </a:prstGeom>
          <a:solidFill>
            <a:srgbClr val="2477A8">
              <a:alpha val="85000"/>
            </a:srgbClr>
          </a:solidFill>
          <a:ln w="12700">
            <a:solidFill>
              <a:srgbClr val="2477A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32588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8232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77A8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82328" y="20574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Final probability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82328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</a:rPr>
              <a:t>Update baseline odds for the patient scenario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3977640"/>
            <a:ext cx="10287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2519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3F5A"/>
                </a:solidFill>
              </a:rPr>
              <a:t>Posterior odds = baseline odds × likelihood ratio evidence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C3F5A"/>
                </a:solidFill>
              </a:rPr>
              <a:t>(half-weighted in the demo to reduce double-counting of correlated symptoms)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4"/>
                </a:solidFill>
              </a:rPr>
              <a:t>4  |  COVID Symptoms Causal Analysis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symptoms raised COVID probability most?</a:t>
            </a:r>
            <a:endParaRPr lang="en-US" sz="2600" dirty="0"/>
          </a:p>
        </p:txBody>
      </p:sp>
      <p:pic>
        <p:nvPicPr>
          <p:cNvPr id="3" name="Image 0" descr="/mnt/data/covid_project_outputs/top_sympto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9880"/>
            <a:ext cx="6126480" cy="3743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60920" y="1143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F5A"/>
                </a:solidFill>
              </a:rPr>
              <a:t>Strongest signals were neurologic symptoms tied to smell/taste and systemic symptoms such as chills and fever.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406640" y="251460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EAF6FB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43800" y="267919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70.7%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571232" y="308152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P(PCR+ | loss of taste)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06640" y="379476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DDF2ED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39593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68.1%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571232" y="436168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P(PCR+ | loss of smell)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06640" y="507492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EEF3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43800" y="52395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54.3%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571232" y="564184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P(PCR+ | chills)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4922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4"/>
                </a:solidFill>
              </a:rPr>
              <a:t>5  |  COVID Symptoms Causal Analysis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scenario: symptoms accumulate</a:t>
            </a:r>
            <a:endParaRPr lang="en-US" sz="2600" dirty="0"/>
          </a:p>
        </p:txBody>
      </p:sp>
      <p:pic>
        <p:nvPicPr>
          <p:cNvPr id="3" name="Image 0" descr="/mnt/data/covid_project_outputs/scenario_pro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0180"/>
            <a:ext cx="6217920" cy="3886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6092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</a:rPr>
              <a:t>Scenario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43800" y="1554480"/>
            <a:ext cx="33832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4213D"/>
                </a:solidFill>
              </a:rPr>
              <a:t>Fever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Cough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Fatigue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Headache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Loss of smell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Loss of taste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06640" y="370332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EAF6FB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43800" y="38679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83.3%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571232" y="427024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observed in matching raw cases (5/6)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06640" y="4956048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DDF2ED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51206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F5A"/>
                </a:solidFill>
              </a:rPr>
              <a:t>96.6%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571232" y="5522976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16B"/>
                </a:solidFill>
              </a:rPr>
              <a:t>tempered DEMI-style estimate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64922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4"/>
                </a:solidFill>
              </a:rPr>
              <a:t>6  |  COVID Symptoms Causal Analysis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Healthcare value and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EAF6FB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</a:rPr>
              <a:t>Healthcare problem addressed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2057400"/>
            <a:ext cx="420624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14213D"/>
                </a:solidFill>
              </a:rPr>
              <a:t>Supports triage when PCR is delayed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</a:rPr>
              <a:t>Explains why risk rises as symptoms cluster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</a:rPr>
              <a:t>Can be calibrated to local prevalence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14300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FFF7ED"/>
          </a:solidFill>
          <a:ln w="12700">
            <a:solidFill>
              <a:srgbClr val="F5D7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12280" y="2057400"/>
            <a:ext cx="420624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14213D"/>
                </a:solidFill>
              </a:rPr>
              <a:t>Symptoms are correlated and observational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</a:rPr>
              <a:t>Full scenario had small matching n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</a:rPr>
              <a:t>Output is not a diagnosis; testing remains needed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80644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5A"/>
                </a:solidFill>
              </a:rPr>
              <a:t>Key interpretation: DEMI is transparent decision support, not a replacement for testing.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4"/>
                </a:solidFill>
              </a:rPr>
              <a:t>7  |  COVID Symptoms Causal Analysis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submit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Final deliverables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1737360"/>
            <a:ext cx="429768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4213D"/>
                </a:solidFill>
              </a:rPr>
              <a:t>JAMA-style final report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</a:rPr>
              <a:t>Recorded video or Canvas upload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</a:rPr>
              <a:t>Presentation slides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</a:rPr>
              <a:t>GitHub repository link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09360" y="114300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</a:rPr>
              <a:t>Video flow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20840" y="2011680"/>
            <a:ext cx="402336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4213D"/>
                </a:solidFill>
              </a:rPr>
              <a:t>Introduce title, name, professor, course, Spring 2026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Run the notebook and show outputs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Explain healthcare problem and findings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Show the GitHub repository files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5A"/>
                </a:solidFill>
              </a:rPr>
              <a:t>Suggested GitHub name: covid-symptoms-causal-analysis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4922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8A4"/>
                </a:solidFill>
              </a:rPr>
              <a:t>8  |  COVID Symptoms Causal Analysis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George Mason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 Symptoms Causal Analysis Using DEMI</dc:title>
  <dc:subject>COVID Symptoms Causal Analysis</dc:subject>
  <dc:creator>Paridhi Pradhan</dc:creator>
  <cp:lastModifiedBy>Paridhi Pradhan</cp:lastModifiedBy>
  <cp:revision>1</cp:revision>
  <dcterms:created xsi:type="dcterms:W3CDTF">2026-05-06T00:10:40Z</dcterms:created>
  <dcterms:modified xsi:type="dcterms:W3CDTF">2026-05-06T00:10:40Z</dcterms:modified>
</cp:coreProperties>
</file>